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329" r:id="rId2"/>
    <p:sldId id="330" r:id="rId3"/>
    <p:sldId id="331" r:id="rId4"/>
    <p:sldId id="332" r:id="rId5"/>
    <p:sldId id="343" r:id="rId6"/>
    <p:sldId id="333" r:id="rId7"/>
    <p:sldId id="335" r:id="rId8"/>
    <p:sldId id="354" r:id="rId9"/>
    <p:sldId id="355" r:id="rId10"/>
    <p:sldId id="356" r:id="rId11"/>
    <p:sldId id="357" r:id="rId12"/>
    <p:sldId id="337" r:id="rId13"/>
    <p:sldId id="358" r:id="rId14"/>
    <p:sldId id="359" r:id="rId15"/>
    <p:sldId id="360" r:id="rId16"/>
    <p:sldId id="361" r:id="rId17"/>
    <p:sldId id="36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1"/>
  </p:normalViewPr>
  <p:slideViewPr>
    <p:cSldViewPr snapToGrid="0">
      <p:cViewPr varScale="1">
        <p:scale>
          <a:sx n="142" d="100"/>
          <a:sy n="142" d="100"/>
        </p:scale>
        <p:origin x="1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F42F-A48D-9049-9665-F3D19131C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F8F58-0E97-BD8D-B663-51320E0B2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323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F007-5258-115F-5917-42736724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BD962-FC57-7237-8568-C55C803A7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034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61AF-A2C4-4E42-E086-75B325E2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D48D1-2994-4F8F-72AA-0E33AA4CD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75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6BD8-CAB0-3D22-2E31-DFEE07A0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E9C42-ACB4-3E92-3E76-BBAED6C12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B1BC1-0D07-9CAE-30D6-B33159B83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560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4F7A-75A5-B1D0-6992-ECA5EC51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4D7B4-AC4C-E8FC-BC5E-ABB5058EF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378CD-B5F2-EA96-1798-7D93A6400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743E6-0918-DA69-6F46-47ED6838C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B84CD-5282-6161-6A1A-F36908D91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11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CBEF-C210-6EB0-E42E-4D52E6FEA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887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90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EA83-0FD0-9212-2272-10ABE2F7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115B0-2329-B265-A9B9-BA6890538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18817-76FF-68BD-2269-338F108F8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678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493B7-4B40-7835-5F93-3F6AB7D14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01695-06C2-4764-C4C1-3EB338475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2A1B4-BE77-CEBC-595E-E8DC4E7CF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639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72FA-7B12-E8D4-0C3F-D113311D6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7094D-1B4D-E486-4944-BFA6F2B02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696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E7B97C-ED60-A353-C0E6-9DD11852A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ED101-552B-1AE3-5927-CCDA561E9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2687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1FFD-A6C9-D357-3ABF-E59EE223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3EB45-ADAF-CBE8-744B-3DA6A99B73C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AAF8-26C1-6006-1FDE-F8A17641B55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B97B9-29DF-3AE4-0A53-EC4F092FF8A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4746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F9EA-61FB-2578-7FA8-453074F06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9F02-F797-54BF-C28E-A9D745CC123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7B1F559C-8764-02E3-38FD-D7EF9F798B22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23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1B5B1-68AD-EF5B-EBCB-35AC3366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4B5B-ED0F-A07A-11FB-B6F88A408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C6377-413E-2118-373E-9DD9976CF0C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BF1BC3-1D18-0E2E-8FEE-F48F572885D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1224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6279-5705-6734-4682-586AE1D64394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224A7-57AF-3A9C-7BC0-5A737AD0342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CB4DD-C832-EF38-DC5D-115A11BA64E2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0FA00E-1938-C185-1190-F57E13137773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78617-7F4E-BDEF-52E2-0118F8562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0820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B9AA4F-D00B-FCB5-007D-BA8481FBBEE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986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29E2B579-0A28-E3BA-67D1-E604071CC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1090613" cy="118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9" name="Picture 3">
            <a:extLst>
              <a:ext uri="{FF2B5EF4-FFF2-40B4-BE49-F238E27FC236}">
                <a16:creationId xmlns:a16="http://schemas.microsoft.com/office/drawing/2014/main" id="{6DDF5084-762F-64F7-F175-AC68424FDF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76200"/>
            <a:ext cx="3048000" cy="119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460" name="Group 4">
            <a:extLst>
              <a:ext uri="{FF2B5EF4-FFF2-40B4-BE49-F238E27FC236}">
                <a16:creationId xmlns:a16="http://schemas.microsoft.com/office/drawing/2014/main" id="{BC113CA1-2ACD-C4AB-57D5-FD1BBE947B6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9461" name="Freeform 5">
              <a:extLst>
                <a:ext uri="{FF2B5EF4-FFF2-40B4-BE49-F238E27FC236}">
                  <a16:creationId xmlns:a16="http://schemas.microsoft.com/office/drawing/2014/main" id="{3E235A77-280C-9447-B748-4199B860D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Arc 6">
              <a:extLst>
                <a:ext uri="{FF2B5EF4-FFF2-40B4-BE49-F238E27FC236}">
                  <a16:creationId xmlns:a16="http://schemas.microsoft.com/office/drawing/2014/main" id="{EBF34F24-56AF-8AE0-5BEB-A729FB0D7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662586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image" Target="../media/image1.jpeg"/><Relationship Id="rId3" Type="http://schemas.openxmlformats.org/officeDocument/2006/relationships/image" Target="../media/image21.emf"/><Relationship Id="rId7" Type="http://schemas.openxmlformats.org/officeDocument/2006/relationships/image" Target="../media/image23.emf"/><Relationship Id="rId12" Type="http://schemas.openxmlformats.org/officeDocument/2006/relationships/image" Target="../media/image28.jpe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7.jpeg"/><Relationship Id="rId5" Type="http://schemas.openxmlformats.org/officeDocument/2006/relationships/image" Target="../media/image22.emf"/><Relationship Id="rId10" Type="http://schemas.openxmlformats.org/officeDocument/2006/relationships/image" Target="../media/image26.jpeg"/><Relationship Id="rId4" Type="http://schemas.openxmlformats.org/officeDocument/2006/relationships/oleObject" Target="../embeddings/oleObject2.bin"/><Relationship Id="rId9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36.emf"/><Relationship Id="rId3" Type="http://schemas.openxmlformats.org/officeDocument/2006/relationships/image" Target="../media/image31.emf"/><Relationship Id="rId7" Type="http://schemas.openxmlformats.org/officeDocument/2006/relationships/image" Target="../media/image33.e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35.emf"/><Relationship Id="rId5" Type="http://schemas.openxmlformats.org/officeDocument/2006/relationships/image" Target="../media/image32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3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7B0F3110-8E25-A1A7-2884-06095E2E9A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06400" y="1650062"/>
            <a:ext cx="8534400" cy="1524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000" b="1" dirty="0">
                <a:solidFill>
                  <a:schemeClr val="tx1"/>
                </a:solidFill>
                <a:latin typeface="Arial Black" panose="020B0604020202020204" pitchFamily="34" charset="0"/>
              </a:rPr>
              <a:t>Functional MRI Imaging in Conscious Animals</a:t>
            </a:r>
            <a:endParaRPr lang="en-US" altLang="en-US" sz="2600" dirty="0">
              <a:solidFill>
                <a:schemeClr val="tx1"/>
              </a:solidFill>
              <a:latin typeface="Arial Black" panose="020B0604020202020204" pitchFamily="34" charset="0"/>
            </a:endParaRP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95D1F65D-579E-6C42-1C4F-8B94B502BA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68400" y="3097862"/>
            <a:ext cx="7239000" cy="1219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latin typeface="Arial Black" panose="020B0604020202020204" pitchFamily="34" charset="0"/>
              </a:rPr>
              <a:t>Applications in </a:t>
            </a:r>
            <a:r>
              <a:rPr lang="en-US" altLang="en-US" sz="2800" dirty="0" err="1">
                <a:latin typeface="Arial Black" panose="020B0604020202020204" pitchFamily="34" charset="0"/>
              </a:rPr>
              <a:t>NeuroScience</a:t>
            </a:r>
            <a:r>
              <a:rPr lang="en-US" altLang="en-US" sz="2800" dirty="0">
                <a:latin typeface="Arial Black" panose="020B0604020202020204" pitchFamily="34" charset="0"/>
              </a:rPr>
              <a:t> Research</a:t>
            </a:r>
          </a:p>
        </p:txBody>
      </p:sp>
      <p:sp>
        <p:nvSpPr>
          <p:cNvPr id="96260" name="Text Box 4">
            <a:extLst>
              <a:ext uri="{FF2B5EF4-FFF2-40B4-BE49-F238E27FC236}">
                <a16:creationId xmlns:a16="http://schemas.microsoft.com/office/drawing/2014/main" id="{4912BAB4-A0AD-E916-F1A3-D5E15A085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445938"/>
            <a:ext cx="8991600" cy="1946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Professors Craig Ferris, Jean King, Reinhold Ludwig, and John Sullivan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Center for Comparative Neuroimaging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b="1" dirty="0">
                <a:solidFill>
                  <a:srgbClr val="FFFFFF"/>
                </a:solidFill>
                <a:latin typeface="Arial Black" panose="020B0604020202020204" pitchFamily="34" charset="0"/>
              </a:rPr>
              <a:t>A Joint Collaboration between </a:t>
            </a:r>
            <a:r>
              <a:rPr lang="en-US" altLang="en-US" sz="2400" b="1" dirty="0" err="1">
                <a:solidFill>
                  <a:srgbClr val="FFFFFF"/>
                </a:solidFill>
                <a:latin typeface="Arial Black" panose="020B0604020202020204" pitchFamily="34" charset="0"/>
              </a:rPr>
              <a:t>Umass</a:t>
            </a:r>
            <a:r>
              <a:rPr lang="en-US" altLang="en-US" sz="2400" b="1" dirty="0">
                <a:solidFill>
                  <a:srgbClr val="FFFFFF"/>
                </a:solidFill>
                <a:latin typeface="Arial Black" panose="020B0604020202020204" pitchFamily="34" charset="0"/>
              </a:rPr>
              <a:t> Medical School and Worcester Polytechnic Institute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604020202020204" pitchFamily="34" charset="0"/>
              <a:ea typeface="+mn-ea"/>
              <a:cs typeface="+mn-cs"/>
            </a:endParaRPr>
          </a:p>
        </p:txBody>
      </p:sp>
      <p:pic>
        <p:nvPicPr>
          <p:cNvPr id="96261" name="Picture 5">
            <a:extLst>
              <a:ext uri="{FF2B5EF4-FFF2-40B4-BE49-F238E27FC236}">
                <a16:creationId xmlns:a16="http://schemas.microsoft.com/office/drawing/2014/main" id="{BF36FA2E-D19B-7825-11BD-C2B4EA2F0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636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>
            <a:extLst>
              <a:ext uri="{FF2B5EF4-FFF2-40B4-BE49-F238E27FC236}">
                <a16:creationId xmlns:a16="http://schemas.microsoft.com/office/drawing/2014/main" id="{9FA5B683-D012-3AE2-ACFA-4A89EAA74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50800"/>
            <a:ext cx="574675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CENTER FOR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COMPARATIVE</a:t>
            </a:r>
            <a:r>
              <a:rPr lang="en-US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604020202020204" pitchFamily="34" charset="0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NEUROIMAGING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  </a:t>
            </a:r>
          </a:p>
        </p:txBody>
      </p:sp>
      <p:pic>
        <p:nvPicPr>
          <p:cNvPr id="97283" name="Picture 3">
            <a:extLst>
              <a:ext uri="{FF2B5EF4-FFF2-40B4-BE49-F238E27FC236}">
                <a16:creationId xmlns:a16="http://schemas.microsoft.com/office/drawing/2014/main" id="{5083E9C2-3CBF-0D99-6F4C-3EE114AF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4"/>
          <a:stretch>
            <a:fillRect/>
          </a:stretch>
        </p:blipFill>
        <p:spPr bwMode="auto">
          <a:xfrm>
            <a:off x="7391400" y="2057400"/>
            <a:ext cx="1600200" cy="18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284" name="Picture 4">
            <a:extLst>
              <a:ext uri="{FF2B5EF4-FFF2-40B4-BE49-F238E27FC236}">
                <a16:creationId xmlns:a16="http://schemas.microsoft.com/office/drawing/2014/main" id="{201B0A79-24B3-5609-85B6-34EB633B9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 r="7407"/>
          <a:stretch>
            <a:fillRect/>
          </a:stretch>
        </p:blipFill>
        <p:spPr bwMode="auto">
          <a:xfrm>
            <a:off x="152400" y="1981200"/>
            <a:ext cx="1600200" cy="197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285" name="Picture 5">
            <a:extLst>
              <a:ext uri="{FF2B5EF4-FFF2-40B4-BE49-F238E27FC236}">
                <a16:creationId xmlns:a16="http://schemas.microsoft.com/office/drawing/2014/main" id="{69F0C9EE-049F-9409-FCD1-0494F71AE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7" t="8696" r="5263" b="8696"/>
          <a:stretch>
            <a:fillRect/>
          </a:stretch>
        </p:blipFill>
        <p:spPr bwMode="auto">
          <a:xfrm>
            <a:off x="4396040" y="4930776"/>
            <a:ext cx="2614360" cy="177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286" name="Picture 6">
            <a:extLst>
              <a:ext uri="{FF2B5EF4-FFF2-40B4-BE49-F238E27FC236}">
                <a16:creationId xmlns:a16="http://schemas.microsoft.com/office/drawing/2014/main" id="{FC405214-F33C-9A73-4D2B-7E74A2CAA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4963"/>
            <a:ext cx="4800600" cy="332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7" name="Picture 7">
            <a:extLst>
              <a:ext uri="{FF2B5EF4-FFF2-40B4-BE49-F238E27FC236}">
                <a16:creationId xmlns:a16="http://schemas.microsoft.com/office/drawing/2014/main" id="{5B97EC41-EBB9-DA2F-FE3D-B79EEDC9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636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0DD85B48-950E-4A86-39EC-A7447E7EA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884919"/>
            <a:ext cx="1930170" cy="192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8A14049B-9251-D3EB-85DF-4CB1965AD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219200"/>
            <a:ext cx="777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4000" b="1">
                <a:solidFill>
                  <a:schemeClr val="tx1"/>
                </a:solidFill>
                <a:latin typeface="Arial Black" panose="020B0604020202020204" pitchFamily="34" charset="0"/>
              </a:rPr>
              <a:t>PRESENT BIOMEDICAL APPLICATIONS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5BBDDB3C-A3BD-E644-1582-B9EBA82FD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2438400"/>
            <a:ext cx="8763000" cy="441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>
                <a:latin typeface="Arial Black" panose="020B0604020202020204" pitchFamily="34" charset="0"/>
              </a:rPr>
              <a:t>Depression </a:t>
            </a:r>
          </a:p>
          <a:p>
            <a:r>
              <a:rPr lang="en-US" altLang="en-US" b="1">
                <a:latin typeface="Arial Black" panose="020B0604020202020204" pitchFamily="34" charset="0"/>
              </a:rPr>
              <a:t>Sexual Violence</a:t>
            </a:r>
          </a:p>
          <a:p>
            <a:r>
              <a:rPr lang="en-US" altLang="en-US" b="1">
                <a:latin typeface="Arial Black" panose="020B0604020202020204" pitchFamily="34" charset="0"/>
              </a:rPr>
              <a:t>Post-Traumatic Stress Disorder/Fear</a:t>
            </a:r>
          </a:p>
          <a:p>
            <a:r>
              <a:rPr lang="en-US" altLang="en-US" b="1">
                <a:latin typeface="Arial Black" panose="020B0604020202020204" pitchFamily="34" charset="0"/>
              </a:rPr>
              <a:t>Drugs of Abuse</a:t>
            </a:r>
          </a:p>
          <a:p>
            <a:r>
              <a:rPr lang="en-US" altLang="en-US" b="1">
                <a:latin typeface="Arial Black" panose="020B0604020202020204" pitchFamily="34" charset="0"/>
              </a:rPr>
              <a:t>General Convulsive Seizure</a:t>
            </a:r>
          </a:p>
          <a:p>
            <a:r>
              <a:rPr lang="en-US" altLang="en-US" b="1">
                <a:latin typeface="Arial Black" panose="020B0604020202020204" pitchFamily="34" charset="0"/>
              </a:rPr>
              <a:t>Hemorrhagic and Ischemic Stroke</a:t>
            </a:r>
          </a:p>
          <a:p>
            <a:r>
              <a:rPr lang="en-US" altLang="en-US" b="1">
                <a:latin typeface="Arial Black" panose="020B0604020202020204" pitchFamily="34" charset="0"/>
              </a:rPr>
              <a:t>Cancer</a:t>
            </a:r>
            <a:endParaRPr lang="en-US" altLang="en-US" sz="2800">
              <a:latin typeface="Arial Black" panose="020B0604020202020204" pitchFamily="34" charset="0"/>
            </a:endParaRPr>
          </a:p>
        </p:txBody>
      </p:sp>
      <p:pic>
        <p:nvPicPr>
          <p:cNvPr id="98308" name="Picture 4">
            <a:extLst>
              <a:ext uri="{FF2B5EF4-FFF2-40B4-BE49-F238E27FC236}">
                <a16:creationId xmlns:a16="http://schemas.microsoft.com/office/drawing/2014/main" id="{9F465F2A-4D7C-7CD0-C490-37DB1A346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636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9A7D30C5-4D1E-E9BC-0CA1-1D0747FD6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0" y="304800"/>
            <a:ext cx="39624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600" b="1">
                <a:solidFill>
                  <a:schemeClr val="tx1"/>
                </a:solidFill>
                <a:latin typeface="Arial Black" panose="020B0604020202020204" pitchFamily="34" charset="0"/>
              </a:rPr>
              <a:t>SUPPORT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681E5257-740D-B1AE-84D3-9DD0B78D709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96886" y="1447800"/>
            <a:ext cx="7862371" cy="495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buFont typeface="Wingdings" pitchFamily="2" charset="2"/>
              <a:buNone/>
              <a:tabLst>
                <a:tab pos="633413" algn="l"/>
              </a:tabLst>
            </a:pPr>
            <a:r>
              <a:rPr lang="en-US" altLang="en-US" sz="2400" b="1" dirty="0">
                <a:latin typeface="Arial Black" panose="020B0604020202020204" pitchFamily="34" charset="0"/>
              </a:rPr>
              <a:t>National Institute of Mental Health</a:t>
            </a:r>
          </a:p>
          <a:p>
            <a:pPr algn="ctr">
              <a:buFont typeface="Wingdings" pitchFamily="2" charset="2"/>
              <a:buNone/>
              <a:tabLst>
                <a:tab pos="633413" algn="l"/>
              </a:tabLst>
            </a:pPr>
            <a:r>
              <a:rPr lang="en-US" altLang="en-US" sz="2400" b="1" dirty="0">
                <a:latin typeface="Arial Black" panose="020B0604020202020204" pitchFamily="34" charset="0"/>
              </a:rPr>
              <a:t>National Institute on Drug Abuse</a:t>
            </a:r>
          </a:p>
          <a:p>
            <a:pPr algn="ctr">
              <a:buFont typeface="Wingdings" pitchFamily="2" charset="2"/>
              <a:buNone/>
              <a:tabLst>
                <a:tab pos="633413" algn="l"/>
              </a:tabLst>
            </a:pPr>
            <a:r>
              <a:rPr lang="en-US" altLang="en-US" sz="2400" b="1" dirty="0">
                <a:latin typeface="Arial Black" panose="020B0604020202020204" pitchFamily="34" charset="0"/>
              </a:rPr>
              <a:t>National Institute of Neurological Disorders and Stroke </a:t>
            </a:r>
          </a:p>
          <a:p>
            <a:pPr algn="ctr">
              <a:buFont typeface="Wingdings" pitchFamily="2" charset="2"/>
              <a:buNone/>
              <a:tabLst>
                <a:tab pos="633413" algn="l"/>
              </a:tabLst>
            </a:pPr>
            <a:r>
              <a:rPr lang="en-US" altLang="en-US" sz="2400" b="1" dirty="0">
                <a:latin typeface="Arial Black" panose="020B0604020202020204" pitchFamily="34" charset="0"/>
              </a:rPr>
              <a:t>National Cancer Institute</a:t>
            </a:r>
          </a:p>
          <a:p>
            <a:pPr algn="ctr">
              <a:buFont typeface="Wingdings" pitchFamily="2" charset="2"/>
              <a:buNone/>
              <a:tabLst>
                <a:tab pos="633413" algn="l"/>
              </a:tabLst>
            </a:pPr>
            <a:r>
              <a:rPr lang="en-US" altLang="en-US" sz="2400" b="1" dirty="0">
                <a:latin typeface="Arial Black" panose="020B0604020202020204" pitchFamily="34" charset="0"/>
              </a:rPr>
              <a:t>National Science Foundation</a:t>
            </a:r>
          </a:p>
          <a:p>
            <a:pPr algn="ctr">
              <a:buFont typeface="Wingdings" pitchFamily="2" charset="2"/>
              <a:buNone/>
              <a:tabLst>
                <a:tab pos="633413" algn="l"/>
              </a:tabLst>
            </a:pPr>
            <a:r>
              <a:rPr lang="en-US" altLang="en-US" sz="2400" b="1" dirty="0">
                <a:latin typeface="Arial Black" panose="020B0604020202020204" pitchFamily="34" charset="0"/>
              </a:rPr>
              <a:t>Whitaker Foundation</a:t>
            </a:r>
          </a:p>
          <a:p>
            <a:pPr algn="ctr">
              <a:buFont typeface="Wingdings" pitchFamily="2" charset="2"/>
              <a:buNone/>
              <a:tabLst>
                <a:tab pos="633413" algn="l"/>
              </a:tabLst>
            </a:pPr>
            <a:endParaRPr lang="en-US" altLang="en-US" sz="2400" b="1" dirty="0">
              <a:latin typeface="Arial Black" panose="020B0604020202020204" pitchFamily="34" charset="0"/>
            </a:endParaRPr>
          </a:p>
          <a:p>
            <a:pPr marL="228600" indent="-228600">
              <a:buNone/>
            </a:pPr>
            <a:r>
              <a:rPr lang="en-US" altLang="en-US" sz="2400" b="1" dirty="0">
                <a:latin typeface="Arial Black" panose="020B0604020202020204" pitchFamily="34" charset="0"/>
              </a:rPr>
              <a:t>CCNI Faculty were awarded twelve grants and near eight million dollars in federal funding to support imaging. (During the 2000-2005 timespan)</a:t>
            </a:r>
          </a:p>
          <a:p>
            <a:pPr algn="ctr">
              <a:buFont typeface="Wingdings" pitchFamily="2" charset="2"/>
              <a:buNone/>
              <a:tabLst>
                <a:tab pos="633413" algn="l"/>
              </a:tabLst>
            </a:pPr>
            <a:endParaRPr lang="en-US" altLang="en-US" sz="2400" b="1" dirty="0">
              <a:latin typeface="Arial Black" panose="020B0604020202020204" pitchFamily="34" charset="0"/>
            </a:endParaRPr>
          </a:p>
        </p:txBody>
      </p:sp>
      <p:pic>
        <p:nvPicPr>
          <p:cNvPr id="99332" name="Picture 4">
            <a:extLst>
              <a:ext uri="{FF2B5EF4-FFF2-40B4-BE49-F238E27FC236}">
                <a16:creationId xmlns:a16="http://schemas.microsoft.com/office/drawing/2014/main" id="{FEAA55DC-9FEE-7908-8A61-6B722877AE77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63650" cy="1371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>
            <a:extLst>
              <a:ext uri="{FF2B5EF4-FFF2-40B4-BE49-F238E27FC236}">
                <a16:creationId xmlns:a16="http://schemas.microsoft.com/office/drawing/2014/main" id="{AC54CBAB-70BD-775C-28A4-CFD6E0DF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572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Thank You</a:t>
            </a:r>
          </a:p>
        </p:txBody>
      </p:sp>
      <p:pic>
        <p:nvPicPr>
          <p:cNvPr id="110595" name="Picture 3">
            <a:extLst>
              <a:ext uri="{FF2B5EF4-FFF2-40B4-BE49-F238E27FC236}">
                <a16:creationId xmlns:a16="http://schemas.microsoft.com/office/drawing/2014/main" id="{F25C737A-C8B7-E90B-4B28-F07C10513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636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6" name="Picture 4">
            <a:extLst>
              <a:ext uri="{FF2B5EF4-FFF2-40B4-BE49-F238E27FC236}">
                <a16:creationId xmlns:a16="http://schemas.microsoft.com/office/drawing/2014/main" id="{35D1D769-4F6D-DB26-7758-BD54A703D04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885950"/>
            <a:ext cx="4419600" cy="36401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0597" name="Picture 5">
            <a:extLst>
              <a:ext uri="{FF2B5EF4-FFF2-40B4-BE49-F238E27FC236}">
                <a16:creationId xmlns:a16="http://schemas.microsoft.com/office/drawing/2014/main" id="{83BB2B64-E5A0-6831-50E6-AD43F062D89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005013"/>
            <a:ext cx="4495800" cy="3371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A2396370-5FE9-6342-1AFB-5D83B283A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2725" y="69850"/>
            <a:ext cx="8686800" cy="76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 Black" panose="020B0604020202020204" pitchFamily="34" charset="0"/>
              </a:rPr>
              <a:t>MAGNETIC RESONANCE SPECTROMETER (4.7 T)</a:t>
            </a:r>
          </a:p>
        </p:txBody>
      </p:sp>
      <p:pic>
        <p:nvPicPr>
          <p:cNvPr id="100355" name="Picture 3">
            <a:extLst>
              <a:ext uri="{FF2B5EF4-FFF2-40B4-BE49-F238E27FC236}">
                <a16:creationId xmlns:a16="http://schemas.microsoft.com/office/drawing/2014/main" id="{82793C24-7D47-D0E9-E80E-C1298C661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925" y="1304925"/>
            <a:ext cx="4343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6" name="Picture 4">
            <a:extLst>
              <a:ext uri="{FF2B5EF4-FFF2-40B4-BE49-F238E27FC236}">
                <a16:creationId xmlns:a16="http://schemas.microsoft.com/office/drawing/2014/main" id="{BDE8E91B-685B-6299-DDFD-7EB4E235C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9" t="16251" r="31065" b="34406"/>
          <a:stretch>
            <a:fillRect/>
          </a:stretch>
        </p:blipFill>
        <p:spPr bwMode="auto">
          <a:xfrm>
            <a:off x="441325" y="1533525"/>
            <a:ext cx="3657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7" name="Line 5">
            <a:extLst>
              <a:ext uri="{FF2B5EF4-FFF2-40B4-BE49-F238E27FC236}">
                <a16:creationId xmlns:a16="http://schemas.microsoft.com/office/drawing/2014/main" id="{0208519F-30E8-FDA8-67C2-5624313CEF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5125" y="2981325"/>
            <a:ext cx="2057400" cy="609600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00358" name="Picture 6">
            <a:extLst>
              <a:ext uri="{FF2B5EF4-FFF2-40B4-BE49-F238E27FC236}">
                <a16:creationId xmlns:a16="http://schemas.microsoft.com/office/drawing/2014/main" id="{BC386CBE-FEE9-4E09-5D60-B0F73F28B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4429125"/>
            <a:ext cx="36576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9" name="Line 7">
            <a:extLst>
              <a:ext uri="{FF2B5EF4-FFF2-40B4-BE49-F238E27FC236}">
                <a16:creationId xmlns:a16="http://schemas.microsoft.com/office/drawing/2014/main" id="{A0C23C12-EF09-726C-081D-C088515698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70325" y="4733925"/>
            <a:ext cx="1447800" cy="990600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0360" name="Text Box 8">
            <a:extLst>
              <a:ext uri="{FF2B5EF4-FFF2-40B4-BE49-F238E27FC236}">
                <a16:creationId xmlns:a16="http://schemas.microsoft.com/office/drawing/2014/main" id="{12D42DD8-D79D-DB95-F75E-49899D797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228725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RF Probes</a:t>
            </a:r>
          </a:p>
        </p:txBody>
      </p:sp>
      <p:sp>
        <p:nvSpPr>
          <p:cNvPr id="100361" name="Text Box 9">
            <a:extLst>
              <a:ext uri="{FF2B5EF4-FFF2-40B4-BE49-F238E27FC236}">
                <a16:creationId xmlns:a16="http://schemas.microsoft.com/office/drawing/2014/main" id="{9169ABCD-E016-E6B3-2470-033FC01A6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4048125"/>
            <a:ext cx="327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Computer Console</a:t>
            </a:r>
          </a:p>
        </p:txBody>
      </p:sp>
      <p:sp>
        <p:nvSpPr>
          <p:cNvPr id="100362" name="Text Box 10">
            <a:extLst>
              <a:ext uri="{FF2B5EF4-FFF2-40B4-BE49-F238E27FC236}">
                <a16:creationId xmlns:a16="http://schemas.microsoft.com/office/drawing/2014/main" id="{C0A5E2B7-AD7B-4198-FF91-7507BEF68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923925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Passive Shielding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112A3F1B-DA1E-12F4-4D0E-A8D95F081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9813" y="63500"/>
            <a:ext cx="5216525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 Black" panose="020B0604020202020204" pitchFamily="34" charset="0"/>
              </a:rPr>
              <a:t>MAGNETIC RESONANCE</a:t>
            </a:r>
            <a:br>
              <a:rPr lang="en-US" altLang="en-US" sz="2800" b="1">
                <a:solidFill>
                  <a:schemeClr val="tx1"/>
                </a:solidFill>
                <a:latin typeface="Arial Black" panose="020B0604020202020204" pitchFamily="34" charset="0"/>
              </a:rPr>
            </a:br>
            <a:r>
              <a:rPr lang="en-US" altLang="en-US" sz="2800" b="1">
                <a:solidFill>
                  <a:schemeClr val="tx1"/>
                </a:solidFill>
                <a:latin typeface="Arial Black" panose="020B0604020202020204" pitchFamily="34" charset="0"/>
              </a:rPr>
              <a:t>IMAGING </a:t>
            </a:r>
            <a:br>
              <a:rPr lang="en-US" altLang="en-US" sz="2800" b="1">
                <a:solidFill>
                  <a:schemeClr val="tx1"/>
                </a:solidFill>
                <a:latin typeface="Arial Black" panose="020B0604020202020204" pitchFamily="34" charset="0"/>
              </a:rPr>
            </a:br>
            <a:r>
              <a:rPr lang="en-US" altLang="en-US" sz="2800" b="1">
                <a:solidFill>
                  <a:schemeClr val="tx1"/>
                </a:solidFill>
                <a:latin typeface="Arial Black" panose="020B0604020202020204" pitchFamily="34" charset="0"/>
              </a:rPr>
              <a:t> “THEN &amp; NOW”</a:t>
            </a:r>
          </a:p>
        </p:txBody>
      </p:sp>
      <p:pic>
        <p:nvPicPr>
          <p:cNvPr id="102403" name="Picture 3">
            <a:extLst>
              <a:ext uri="{FF2B5EF4-FFF2-40B4-BE49-F238E27FC236}">
                <a16:creationId xmlns:a16="http://schemas.microsoft.com/office/drawing/2014/main" id="{BBD65ED6-AD90-D812-21DC-5B9D6C1A50E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1668463"/>
            <a:ext cx="3508375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4" name="Text Box 4">
            <a:extLst>
              <a:ext uri="{FF2B5EF4-FFF2-40B4-BE49-F238E27FC236}">
                <a16:creationId xmlns:a16="http://schemas.microsoft.com/office/drawing/2014/main" id="{8940E874-078D-2DF1-51AE-50E21661F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6164263"/>
            <a:ext cx="365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Damadian et al., Science 194:1431, (1976)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45B669EB-CCF0-B487-134D-2BE32A9E2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6316663"/>
            <a:ext cx="3352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604020202020204" pitchFamily="34" charset="0"/>
                <a:ea typeface="+mn-ea"/>
                <a:cs typeface="+mn-cs"/>
              </a:rPr>
              <a:t>CCNI, 9.4T  (2000) </a:t>
            </a:r>
          </a:p>
        </p:txBody>
      </p:sp>
      <p:pic>
        <p:nvPicPr>
          <p:cNvPr id="102406" name="Picture 6">
            <a:extLst>
              <a:ext uri="{FF2B5EF4-FFF2-40B4-BE49-F238E27FC236}">
                <a16:creationId xmlns:a16="http://schemas.microsoft.com/office/drawing/2014/main" id="{9C71FF56-77AD-9AA7-4EAE-A3121A438A5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2676525"/>
            <a:ext cx="5057775" cy="3509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7" name="Picture 7">
            <a:extLst>
              <a:ext uri="{FF2B5EF4-FFF2-40B4-BE49-F238E27FC236}">
                <a16:creationId xmlns:a16="http://schemas.microsoft.com/office/drawing/2014/main" id="{63DEAF96-EFB9-2395-8005-12F54C4D8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636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A4671-3FF8-AE9B-3649-675727DD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024AB25-DFA4-058F-4642-5BEBF8162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251013"/>
            <a:ext cx="4760259" cy="914399"/>
          </a:xfrm>
        </p:spPr>
        <p:txBody>
          <a:bodyPr/>
          <a:lstStyle/>
          <a:p>
            <a:r>
              <a:rPr lang="en-US" altLang="en-US" sz="4800" dirty="0">
                <a:solidFill>
                  <a:schemeClr val="tx1"/>
                </a:solidFill>
              </a:rPr>
              <a:t>Cocaine Story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67131742-9617-CB4D-7933-A6C45FAF26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4" t="11078" r="28807" b="1127"/>
          <a:stretch>
            <a:fillRect/>
          </a:stretch>
        </p:blipFill>
        <p:spPr bwMode="auto">
          <a:xfrm rot="5400000">
            <a:off x="2967489" y="-1174203"/>
            <a:ext cx="3209024" cy="9144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6281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3246A-C39C-F64A-F8E5-F7012CD5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3" name="Text Box 13">
            <a:extLst>
              <a:ext uri="{FF2B5EF4-FFF2-40B4-BE49-F238E27FC236}">
                <a16:creationId xmlns:a16="http://schemas.microsoft.com/office/drawing/2014/main" id="{F2CD9611-682D-9DD8-9635-744CC24D5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295400"/>
            <a:ext cx="3017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tabLst>
                <a:tab pos="228600" algn="l"/>
                <a:tab pos="78851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tabLst>
                <a:tab pos="228600" algn="l"/>
                <a:tab pos="78851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tabLst>
                <a:tab pos="228600" algn="l"/>
                <a:tab pos="78851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tabLst>
                <a:tab pos="228600" algn="l"/>
                <a:tab pos="78851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tabLst>
                <a:tab pos="228600" algn="l"/>
                <a:tab pos="78851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78851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78851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78851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7885113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  <a:tab pos="7885113" algn="r"/>
              </a:tabLst>
              <a:defRPr/>
            </a:pPr>
            <a:r>
              <a:rPr kumimoji="0" lang="en-US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Segmentation</a:t>
            </a:r>
          </a:p>
        </p:txBody>
      </p:sp>
      <p:pic>
        <p:nvPicPr>
          <p:cNvPr id="20494" name="Picture 14">
            <a:extLst>
              <a:ext uri="{FF2B5EF4-FFF2-40B4-BE49-F238E27FC236}">
                <a16:creationId xmlns:a16="http://schemas.microsoft.com/office/drawing/2014/main" id="{9728AC38-1D96-8EE5-8DCE-9C0D95EEE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8600"/>
            <a:ext cx="3581400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5" name="Picture 15">
            <a:extLst>
              <a:ext uri="{FF2B5EF4-FFF2-40B4-BE49-F238E27FC236}">
                <a16:creationId xmlns:a16="http://schemas.microsoft.com/office/drawing/2014/main" id="{681BBE1C-3331-8E25-DEB5-4DD07FBE6CA9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8" t="26515" r="5797" b="24319"/>
          <a:stretch>
            <a:fillRect/>
          </a:stretch>
        </p:blipFill>
        <p:spPr bwMode="auto">
          <a:xfrm>
            <a:off x="1060450" y="2060575"/>
            <a:ext cx="6934200" cy="457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92" name="Picture 12">
            <a:extLst>
              <a:ext uri="{FF2B5EF4-FFF2-40B4-BE49-F238E27FC236}">
                <a16:creationId xmlns:a16="http://schemas.microsoft.com/office/drawing/2014/main" id="{BD963A4A-8763-4A02-2681-28596D6C0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2057400"/>
            <a:ext cx="399732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97" name="Text Box 17">
            <a:extLst>
              <a:ext uri="{FF2B5EF4-FFF2-40B4-BE49-F238E27FC236}">
                <a16:creationId xmlns:a16="http://schemas.microsoft.com/office/drawing/2014/main" id="{CC9F7B73-E681-75F8-24E0-456A13FF4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6400800"/>
            <a:ext cx="5670550" cy="366713"/>
          </a:xfrm>
          <a:prstGeom prst="rect">
            <a:avLst/>
          </a:prstGeom>
          <a:solidFill>
            <a:srgbClr val="1B1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Praveen Kulkarni and Hamid Ghadyani, Segmentation</a:t>
            </a:r>
          </a:p>
        </p:txBody>
      </p:sp>
    </p:spTree>
    <p:extLst>
      <p:ext uri="{BB962C8B-B14F-4D97-AF65-F5344CB8AC3E}">
        <p14:creationId xmlns:p14="http://schemas.microsoft.com/office/powerpoint/2010/main" val="392378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388DA-07BC-5D2A-61F3-1A812B6C3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5BA876D-B138-9731-C7A2-87BFEA814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2487"/>
          </a:xfrm>
        </p:spPr>
        <p:txBody>
          <a:bodyPr/>
          <a:lstStyle/>
          <a:p>
            <a:r>
              <a:rPr lang="en-US" altLang="en-US" sz="2800"/>
              <a:t>Selection  ROIs: Tree Browser</a:t>
            </a:r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F37408DB-1C32-8347-723C-BBF1BDEA7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1036638"/>
            <a:ext cx="7162800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461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0C31F-65AD-122D-699C-25A31F19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CB93114-13F1-FD03-9E47-DF5BC0A15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2487"/>
          </a:xfrm>
        </p:spPr>
        <p:txBody>
          <a:bodyPr/>
          <a:lstStyle/>
          <a:p>
            <a:r>
              <a:rPr lang="en-US" altLang="en-US"/>
              <a:t>Functional Area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7B221B5A-859A-3849-55B9-9DDAC3919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1143000"/>
            <a:ext cx="7050087" cy="571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205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50" name="Group 2">
            <a:extLst>
              <a:ext uri="{FF2B5EF4-FFF2-40B4-BE49-F238E27FC236}">
                <a16:creationId xmlns:a16="http://schemas.microsoft.com/office/drawing/2014/main" id="{AA266F2B-FDA8-9D56-6585-EAB7949ECB9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71525" y="1651000"/>
            <a:ext cx="7459663" cy="5135563"/>
            <a:chOff x="1584" y="4860"/>
            <a:chExt cx="9396" cy="6469"/>
          </a:xfrm>
        </p:grpSpPr>
        <p:sp>
          <p:nvSpPr>
            <p:cNvPr id="104451" name="AutoShape 3">
              <a:extLst>
                <a:ext uri="{FF2B5EF4-FFF2-40B4-BE49-F238E27FC236}">
                  <a16:creationId xmlns:a16="http://schemas.microsoft.com/office/drawing/2014/main" id="{C56E3F2A-8DAD-1BFE-7C5A-E914ACD444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4" y="4860"/>
              <a:ext cx="9396" cy="6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aphicFrame>
          <p:nvGraphicFramePr>
            <p:cNvPr id="104452" name="Object 4">
              <a:extLst>
                <a:ext uri="{FF2B5EF4-FFF2-40B4-BE49-F238E27FC236}">
                  <a16:creationId xmlns:a16="http://schemas.microsoft.com/office/drawing/2014/main" id="{0FCB1559-3F56-DB3A-E2FC-FD759452D4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00" y="8408"/>
            <a:ext cx="4378" cy="2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2" imgW="5727700" imgH="3708400" progId="Excel.Chart.8">
                    <p:embed/>
                  </p:oleObj>
                </mc:Choice>
                <mc:Fallback>
                  <p:oleObj name="Chart" r:id="rId2" imgW="5727700" imgH="3708400" progId="Excel.Chart.8">
                    <p:embed/>
                    <p:pic>
                      <p:nvPicPr>
                        <p:cNvPr id="104452" name="Object 4">
                          <a:extLst>
                            <a:ext uri="{FF2B5EF4-FFF2-40B4-BE49-F238E27FC236}">
                              <a16:creationId xmlns:a16="http://schemas.microsoft.com/office/drawing/2014/main" id="{0FCB1559-3F56-DB3A-E2FC-FD759452D4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3279" t="8659" r="1639" b="12866"/>
                        <a:stretch>
                          <a:fillRect/>
                        </a:stretch>
                      </p:blipFill>
                      <p:spPr bwMode="auto">
                        <a:xfrm>
                          <a:off x="6300" y="8408"/>
                          <a:ext cx="4378" cy="28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99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003366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53" name="Object 5">
              <a:extLst>
                <a:ext uri="{FF2B5EF4-FFF2-40B4-BE49-F238E27FC236}">
                  <a16:creationId xmlns:a16="http://schemas.microsoft.com/office/drawing/2014/main" id="{53957EEA-FBCB-B076-D748-8AACB44405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00" y="5580"/>
            <a:ext cx="4378" cy="28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4" imgW="5905500" imgH="3708400" progId="Excel.Chart.8">
                    <p:embed/>
                  </p:oleObj>
                </mc:Choice>
                <mc:Fallback>
                  <p:oleObj name="Chart" r:id="rId4" imgW="5905500" imgH="3708400" progId="Excel.Chart.8">
                    <p:embed/>
                    <p:pic>
                      <p:nvPicPr>
                        <p:cNvPr id="104453" name="Object 5">
                          <a:extLst>
                            <a:ext uri="{FF2B5EF4-FFF2-40B4-BE49-F238E27FC236}">
                              <a16:creationId xmlns:a16="http://schemas.microsoft.com/office/drawing/2014/main" id="{53957EEA-FBCB-B076-D748-8AACB44405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3279" t="12370" r="1639" b="9402"/>
                        <a:stretch>
                          <a:fillRect/>
                        </a:stretch>
                      </p:blipFill>
                      <p:spPr bwMode="auto">
                        <a:xfrm>
                          <a:off x="6300" y="5580"/>
                          <a:ext cx="4378" cy="28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99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003366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54" name="Object 6">
              <a:extLst>
                <a:ext uri="{FF2B5EF4-FFF2-40B4-BE49-F238E27FC236}">
                  <a16:creationId xmlns:a16="http://schemas.microsoft.com/office/drawing/2014/main" id="{37FDBFC6-FBE6-D3EB-BCFD-E31D17AD29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0" y="5508"/>
            <a:ext cx="4375" cy="28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6" imgW="6223000" imgH="2806700" progId="Excel.Chart.8">
                    <p:embed/>
                  </p:oleObj>
                </mc:Choice>
                <mc:Fallback>
                  <p:oleObj name="Chart" r:id="rId6" imgW="6223000" imgH="2806700" progId="Excel.Chart.8">
                    <p:embed/>
                    <p:pic>
                      <p:nvPicPr>
                        <p:cNvPr id="104454" name="Object 6">
                          <a:extLst>
                            <a:ext uri="{FF2B5EF4-FFF2-40B4-BE49-F238E27FC236}">
                              <a16:creationId xmlns:a16="http://schemas.microsoft.com/office/drawing/2014/main" id="{37FDBFC6-FBE6-D3EB-BCFD-E31D17AD29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942" t="10435" r="1471" b="11414"/>
                        <a:stretch>
                          <a:fillRect/>
                        </a:stretch>
                      </p:blipFill>
                      <p:spPr bwMode="auto">
                        <a:xfrm>
                          <a:off x="1620" y="5508"/>
                          <a:ext cx="4375" cy="28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99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003366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4455" name="Picture 7">
              <a:extLst>
                <a:ext uri="{FF2B5EF4-FFF2-40B4-BE49-F238E27FC236}">
                  <a16:creationId xmlns:a16="http://schemas.microsoft.com/office/drawing/2014/main" id="{FE9751F3-50F6-E844-E463-5A1C5D64C0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8" t="12370" r="2158" b="9279"/>
            <a:stretch>
              <a:fillRect/>
            </a:stretch>
          </p:blipFill>
          <p:spPr bwMode="auto">
            <a:xfrm>
              <a:off x="1584" y="8460"/>
              <a:ext cx="4378" cy="28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</p:pic>
        <p:pic>
          <p:nvPicPr>
            <p:cNvPr id="104456" name="Picture 8">
              <a:extLst>
                <a:ext uri="{FF2B5EF4-FFF2-40B4-BE49-F238E27FC236}">
                  <a16:creationId xmlns:a16="http://schemas.microsoft.com/office/drawing/2014/main" id="{EC57D786-3A8B-036C-0C24-CBAF5A7463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0" y="6120"/>
              <a:ext cx="1152" cy="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57" name="Picture 9">
              <a:extLst>
                <a:ext uri="{FF2B5EF4-FFF2-40B4-BE49-F238E27FC236}">
                  <a16:creationId xmlns:a16="http://schemas.microsoft.com/office/drawing/2014/main" id="{7D5B8A17-6E02-FF23-0BE0-D17A9E6EDF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0" y="8785"/>
              <a:ext cx="1766" cy="1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458" name="Oval 10">
              <a:extLst>
                <a:ext uri="{FF2B5EF4-FFF2-40B4-BE49-F238E27FC236}">
                  <a16:creationId xmlns:a16="http://schemas.microsoft.com/office/drawing/2014/main" id="{64EA40CC-B181-C2A2-F002-F1D3172707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4297360">
              <a:off x="7508" y="9465"/>
              <a:ext cx="109" cy="45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4459" name="Oval 11">
              <a:extLst>
                <a:ext uri="{FF2B5EF4-FFF2-40B4-BE49-F238E27FC236}">
                  <a16:creationId xmlns:a16="http://schemas.microsoft.com/office/drawing/2014/main" id="{7AA05B66-1838-15E9-29FC-41CD0EDF48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97360" flipH="1">
              <a:off x="8111" y="9465"/>
              <a:ext cx="109" cy="45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4460" name="Line 12">
              <a:extLst>
                <a:ext uri="{FF2B5EF4-FFF2-40B4-BE49-F238E27FC236}">
                  <a16:creationId xmlns:a16="http://schemas.microsoft.com/office/drawing/2014/main" id="{75822015-0B09-8B67-02BC-F47878C74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0" y="6898"/>
              <a:ext cx="0" cy="3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4461" name="Line 13">
              <a:extLst>
                <a:ext uri="{FF2B5EF4-FFF2-40B4-BE49-F238E27FC236}">
                  <a16:creationId xmlns:a16="http://schemas.microsoft.com/office/drawing/2014/main" id="{C66E1971-6474-051A-7D2B-EA9D65E14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6" y="9842"/>
              <a:ext cx="0" cy="3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pic>
          <p:nvPicPr>
            <p:cNvPr id="104462" name="Picture 14">
              <a:extLst>
                <a:ext uri="{FF2B5EF4-FFF2-40B4-BE49-F238E27FC236}">
                  <a16:creationId xmlns:a16="http://schemas.microsoft.com/office/drawing/2014/main" id="{FDC8071C-6D65-DC14-835E-7021CFBBA9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5940"/>
              <a:ext cx="1448" cy="1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463" name="Oval 15">
              <a:extLst>
                <a:ext uri="{FF2B5EF4-FFF2-40B4-BE49-F238E27FC236}">
                  <a16:creationId xmlns:a16="http://schemas.microsoft.com/office/drawing/2014/main" id="{F1980D43-17C7-988C-6AAC-3BE07A38B40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40540">
              <a:off x="2677" y="6596"/>
              <a:ext cx="226" cy="30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4464" name="Oval 16">
              <a:extLst>
                <a:ext uri="{FF2B5EF4-FFF2-40B4-BE49-F238E27FC236}">
                  <a16:creationId xmlns:a16="http://schemas.microsoft.com/office/drawing/2014/main" id="{1A3AB8BF-4348-1F7E-8DD2-2243163E4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159460" flipH="1">
              <a:off x="3130" y="6596"/>
              <a:ext cx="226" cy="30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pic>
          <p:nvPicPr>
            <p:cNvPr id="104465" name="Picture 17">
              <a:extLst>
                <a:ext uri="{FF2B5EF4-FFF2-40B4-BE49-F238E27FC236}">
                  <a16:creationId xmlns:a16="http://schemas.microsoft.com/office/drawing/2014/main" id="{7F72C735-A39A-7A8A-AEB4-F35C6CBE6F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5" y="8710"/>
              <a:ext cx="1566" cy="11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466" name="Oval 18">
              <a:extLst>
                <a:ext uri="{FF2B5EF4-FFF2-40B4-BE49-F238E27FC236}">
                  <a16:creationId xmlns:a16="http://schemas.microsoft.com/office/drawing/2014/main" id="{7683C21F-9147-F191-677B-7AD22F3E8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9087"/>
              <a:ext cx="377" cy="37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4467" name="Oval 19">
              <a:extLst>
                <a:ext uri="{FF2B5EF4-FFF2-40B4-BE49-F238E27FC236}">
                  <a16:creationId xmlns:a16="http://schemas.microsoft.com/office/drawing/2014/main" id="{8BEE7D24-9FD3-B526-E55A-FFE1DFE97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4" y="9036"/>
              <a:ext cx="377" cy="37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4468" name="Line 20">
              <a:extLst>
                <a:ext uri="{FF2B5EF4-FFF2-40B4-BE49-F238E27FC236}">
                  <a16:creationId xmlns:a16="http://schemas.microsoft.com/office/drawing/2014/main" id="{F105FF90-4C0C-6114-F21A-DD5761BE3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6748"/>
              <a:ext cx="0" cy="3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4469" name="Line 21">
              <a:extLst>
                <a:ext uri="{FF2B5EF4-FFF2-40B4-BE49-F238E27FC236}">
                  <a16:creationId xmlns:a16="http://schemas.microsoft.com/office/drawing/2014/main" id="{E54FED64-C547-3211-4C42-A46E177FE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" y="9767"/>
              <a:ext cx="0" cy="3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4470" name="Text Box 22">
              <a:extLst>
                <a:ext uri="{FF2B5EF4-FFF2-40B4-BE49-F238E27FC236}">
                  <a16:creationId xmlns:a16="http://schemas.microsoft.com/office/drawing/2014/main" id="{FE15F735-236A-E05B-DA2B-DDE1066BE7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8" y="5087"/>
              <a:ext cx="4605" cy="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 lIns="57607" tIns="28804" rIns="57607" bIns="28804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04471" name="Text Box 23">
              <a:extLst>
                <a:ext uri="{FF2B5EF4-FFF2-40B4-BE49-F238E27FC236}">
                  <a16:creationId xmlns:a16="http://schemas.microsoft.com/office/drawing/2014/main" id="{0399F409-0EF6-EBD8-3942-C1EE40E7B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5" y="4860"/>
              <a:ext cx="8605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 lIns="57607" tIns="28804" rIns="57607" bIns="28804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04472" name="Oval 24">
              <a:extLst>
                <a:ext uri="{FF2B5EF4-FFF2-40B4-BE49-F238E27FC236}">
                  <a16:creationId xmlns:a16="http://schemas.microsoft.com/office/drawing/2014/main" id="{9B5418AE-5E20-2AB3-B4A6-D48D784FB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" y="6300"/>
              <a:ext cx="180" cy="3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3366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  <p:sp>
        <p:nvSpPr>
          <p:cNvPr id="104473" name="Rectangle 25">
            <a:extLst>
              <a:ext uri="{FF2B5EF4-FFF2-40B4-BE49-F238E27FC236}">
                <a16:creationId xmlns:a16="http://schemas.microsoft.com/office/drawing/2014/main" id="{E031C860-3C75-2265-831B-A55FF9280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143000"/>
            <a:ext cx="82296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200">
                <a:solidFill>
                  <a:schemeClr val="tx1"/>
                </a:solidFill>
                <a:latin typeface="Arial Black" panose="020B0604020202020204" pitchFamily="34" charset="0"/>
              </a:rPr>
              <a:t>IMAGING BRAIN ACTIVITY IN RESPONSE TO COCAINE </a:t>
            </a:r>
          </a:p>
        </p:txBody>
      </p:sp>
      <p:pic>
        <p:nvPicPr>
          <p:cNvPr id="104474" name="Picture 26">
            <a:extLst>
              <a:ext uri="{FF2B5EF4-FFF2-40B4-BE49-F238E27FC236}">
                <a16:creationId xmlns:a16="http://schemas.microsoft.com/office/drawing/2014/main" id="{5A5506A9-7380-B72E-89A5-1E807D261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39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16047-B258-E746-9C05-58483E79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8">
            <a:extLst>
              <a:ext uri="{FF2B5EF4-FFF2-40B4-BE49-F238E27FC236}">
                <a16:creationId xmlns:a16="http://schemas.microsoft.com/office/drawing/2014/main" id="{9AB67F30-5527-A338-4A0F-F72965C9E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713" y="46038"/>
            <a:ext cx="2352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Analysis</a:t>
            </a:r>
          </a:p>
        </p:txBody>
      </p:sp>
      <p:grpSp>
        <p:nvGrpSpPr>
          <p:cNvPr id="10251" name="Group 11">
            <a:extLst>
              <a:ext uri="{FF2B5EF4-FFF2-40B4-BE49-F238E27FC236}">
                <a16:creationId xmlns:a16="http://schemas.microsoft.com/office/drawing/2014/main" id="{8F224D6F-1030-A6E5-C9BD-924B56298008}"/>
              </a:ext>
            </a:extLst>
          </p:cNvPr>
          <p:cNvGrpSpPr>
            <a:grpSpLocks/>
          </p:cNvGrpSpPr>
          <p:nvPr/>
        </p:nvGrpSpPr>
        <p:grpSpPr bwMode="auto">
          <a:xfrm>
            <a:off x="477838" y="674688"/>
            <a:ext cx="7562850" cy="5562600"/>
            <a:chOff x="301" y="425"/>
            <a:chExt cx="4764" cy="3504"/>
          </a:xfrm>
        </p:grpSpPr>
        <p:graphicFrame>
          <p:nvGraphicFramePr>
            <p:cNvPr id="10243" name="Object 3">
              <a:extLst>
                <a:ext uri="{FF2B5EF4-FFF2-40B4-BE49-F238E27FC236}">
                  <a16:creationId xmlns:a16="http://schemas.microsoft.com/office/drawing/2014/main" id="{8B9FBB23-ADB0-C719-040D-D58028B377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3" y="425"/>
            <a:ext cx="4464" cy="1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2" imgW="7708900" imgH="3530600" progId="Excel.Chart.8">
                    <p:embed/>
                  </p:oleObj>
                </mc:Choice>
                <mc:Fallback>
                  <p:oleObj name="Chart" r:id="rId2" imgW="7708900" imgH="3530600" progId="Excel.Chart.8">
                    <p:embed/>
                    <p:pic>
                      <p:nvPicPr>
                        <p:cNvPr id="10243" name="Object 3">
                          <a:extLst>
                            <a:ext uri="{FF2B5EF4-FFF2-40B4-BE49-F238E27FC236}">
                              <a16:creationId xmlns:a16="http://schemas.microsoft.com/office/drawing/2014/main" id="{43539E17-0109-C790-D9EF-F29775CF6C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931" t="8649" r="7921" b="22162"/>
                        <a:stretch>
                          <a:fillRect/>
                        </a:stretch>
                      </p:blipFill>
                      <p:spPr bwMode="auto">
                        <a:xfrm>
                          <a:off x="583" y="425"/>
                          <a:ext cx="4464" cy="1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244" name="Picture 4">
              <a:extLst>
                <a:ext uri="{FF2B5EF4-FFF2-40B4-BE49-F238E27FC236}">
                  <a16:creationId xmlns:a16="http://schemas.microsoft.com/office/drawing/2014/main" id="{40C0786E-910C-80FC-BF1E-16285E5749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74" b="10454"/>
            <a:stretch>
              <a:fillRect/>
            </a:stretch>
          </p:blipFill>
          <p:spPr bwMode="auto">
            <a:xfrm>
              <a:off x="583" y="1961"/>
              <a:ext cx="4482" cy="1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45" name="Text Box 5">
              <a:extLst>
                <a:ext uri="{FF2B5EF4-FFF2-40B4-BE49-F238E27FC236}">
                  <a16:creationId xmlns:a16="http://schemas.microsoft.com/office/drawing/2014/main" id="{EA791CB8-4511-BC25-4A9D-DA76DE8EC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1" y="431"/>
              <a:ext cx="19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Time History for single Voxel</a:t>
              </a:r>
            </a:p>
          </p:txBody>
        </p:sp>
        <p:sp>
          <p:nvSpPr>
            <p:cNvPr id="10246" name="Text Box 6">
              <a:extLst>
                <a:ext uri="{FF2B5EF4-FFF2-40B4-BE49-F238E27FC236}">
                  <a16:creationId xmlns:a16="http://schemas.microsoft.com/office/drawing/2014/main" id="{99C4665B-8A76-8695-335B-1076A84C9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1926"/>
              <a:ext cx="4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BE0E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Time</a:t>
              </a:r>
            </a:p>
          </p:txBody>
        </p:sp>
        <p:sp>
          <p:nvSpPr>
            <p:cNvPr id="10247" name="Text Box 7">
              <a:extLst>
                <a:ext uri="{FF2B5EF4-FFF2-40B4-BE49-F238E27FC236}">
                  <a16:creationId xmlns:a16="http://schemas.microsoft.com/office/drawing/2014/main" id="{743255AD-9330-D5DE-A4DC-C2F1DACB4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91" y="1064"/>
              <a:ext cx="6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Intensity</a:t>
              </a:r>
            </a:p>
          </p:txBody>
        </p:sp>
        <p:sp>
          <p:nvSpPr>
            <p:cNvPr id="10250" name="AutoShape 10">
              <a:extLst>
                <a:ext uri="{FF2B5EF4-FFF2-40B4-BE49-F238E27FC236}">
                  <a16:creationId xmlns:a16="http://schemas.microsoft.com/office/drawing/2014/main" id="{DC719854-9B6B-6A27-BA8F-A3CFADC0B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4" y="1999"/>
              <a:ext cx="325" cy="102"/>
            </a:xfrm>
            <a:prstGeom prst="rightArrow">
              <a:avLst>
                <a:gd name="adj1" fmla="val 50000"/>
                <a:gd name="adj2" fmla="val 79657"/>
              </a:avLst>
            </a:prstGeom>
            <a:solidFill>
              <a:schemeClr val="accent1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95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719A-7E8A-3EF0-E76A-FA07CFDD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89" name="Group 177">
            <a:extLst>
              <a:ext uri="{FF2B5EF4-FFF2-40B4-BE49-F238E27FC236}">
                <a16:creationId xmlns:a16="http://schemas.microsoft.com/office/drawing/2014/main" id="{DA187919-11F0-B6B9-3055-C9DDE280E2D8}"/>
              </a:ext>
            </a:extLst>
          </p:cNvPr>
          <p:cNvGrpSpPr>
            <a:grpSpLocks/>
          </p:cNvGrpSpPr>
          <p:nvPr/>
        </p:nvGrpSpPr>
        <p:grpSpPr bwMode="auto">
          <a:xfrm>
            <a:off x="1276350" y="1163266"/>
            <a:ext cx="6953250" cy="5529262"/>
            <a:chOff x="804" y="473"/>
            <a:chExt cx="4380" cy="3483"/>
          </a:xfrm>
        </p:grpSpPr>
        <p:graphicFrame>
          <p:nvGraphicFramePr>
            <p:cNvPr id="13439" name="Object 127">
              <a:extLst>
                <a:ext uri="{FF2B5EF4-FFF2-40B4-BE49-F238E27FC236}">
                  <a16:creationId xmlns:a16="http://schemas.microsoft.com/office/drawing/2014/main" id="{A26B3724-5906-3FC5-FF89-8646D66696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2" y="2760"/>
            <a:ext cx="2158" cy="1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2" imgW="5448300" imgH="3543300" progId="Excel.Chart.8">
                    <p:embed/>
                  </p:oleObj>
                </mc:Choice>
                <mc:Fallback>
                  <p:oleObj name="Chart" r:id="rId2" imgW="5448300" imgH="3543300" progId="Excel.Chart.8">
                    <p:embed/>
                    <p:pic>
                      <p:nvPicPr>
                        <p:cNvPr id="13439" name="Object 127">
                          <a:extLst>
                            <a:ext uri="{FF2B5EF4-FFF2-40B4-BE49-F238E27FC236}">
                              <a16:creationId xmlns:a16="http://schemas.microsoft.com/office/drawing/2014/main" id="{619507AD-4C5B-5111-FAD7-8B96B8B43C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2" y="2760"/>
                          <a:ext cx="2158" cy="1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40" name="Object 128">
              <a:extLst>
                <a:ext uri="{FF2B5EF4-FFF2-40B4-BE49-F238E27FC236}">
                  <a16:creationId xmlns:a16="http://schemas.microsoft.com/office/drawing/2014/main" id="{E918B6E5-9967-E1AB-2400-E88EC0EF76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3" y="1642"/>
            <a:ext cx="2194" cy="10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4" imgW="5448300" imgH="3530600" progId="Excel.Chart.8">
                    <p:embed/>
                  </p:oleObj>
                </mc:Choice>
                <mc:Fallback>
                  <p:oleObj name="Chart" r:id="rId4" imgW="5448300" imgH="3530600" progId="Excel.Chart.8">
                    <p:embed/>
                    <p:pic>
                      <p:nvPicPr>
                        <p:cNvPr id="13440" name="Object 128">
                          <a:extLst>
                            <a:ext uri="{FF2B5EF4-FFF2-40B4-BE49-F238E27FC236}">
                              <a16:creationId xmlns:a16="http://schemas.microsoft.com/office/drawing/2014/main" id="{23EABDDC-3C0E-ACC9-122A-24B090D235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" y="1642"/>
                          <a:ext cx="2194" cy="10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42" name="Object 130">
              <a:extLst>
                <a:ext uri="{FF2B5EF4-FFF2-40B4-BE49-F238E27FC236}">
                  <a16:creationId xmlns:a16="http://schemas.microsoft.com/office/drawing/2014/main" id="{564AB41F-51A9-AF87-07F2-E461116221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4" y="473"/>
            <a:ext cx="2223" cy="1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6" imgW="6654800" imgH="3530600" progId="Excel.Chart.8">
                    <p:embed/>
                  </p:oleObj>
                </mc:Choice>
                <mc:Fallback>
                  <p:oleObj name="Chart" r:id="rId6" imgW="6654800" imgH="3530600" progId="Excel.Chart.8">
                    <p:embed/>
                    <p:pic>
                      <p:nvPicPr>
                        <p:cNvPr id="13442" name="Object 130">
                          <a:extLst>
                            <a:ext uri="{FF2B5EF4-FFF2-40B4-BE49-F238E27FC236}">
                              <a16:creationId xmlns:a16="http://schemas.microsoft.com/office/drawing/2014/main" id="{F7AC694B-79FF-94EA-E3B3-2D4C1816B2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4" y="473"/>
                          <a:ext cx="2223" cy="11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446" name="Group 134">
              <a:extLst>
                <a:ext uri="{FF2B5EF4-FFF2-40B4-BE49-F238E27FC236}">
                  <a16:creationId xmlns:a16="http://schemas.microsoft.com/office/drawing/2014/main" id="{55759106-82C2-9CB9-506B-B22EF1A68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5" y="601"/>
              <a:ext cx="1939" cy="3355"/>
              <a:chOff x="3215" y="709"/>
              <a:chExt cx="1939" cy="3355"/>
            </a:xfrm>
          </p:grpSpPr>
          <p:grpSp>
            <p:nvGrpSpPr>
              <p:cNvPr id="13447" name="Group 135">
                <a:extLst>
                  <a:ext uri="{FF2B5EF4-FFF2-40B4-BE49-F238E27FC236}">
                    <a16:creationId xmlns:a16="http://schemas.microsoft.com/office/drawing/2014/main" id="{727677EA-3379-9C5C-5F80-5BC2CC7EFB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5" y="709"/>
                <a:ext cx="1934" cy="1034"/>
                <a:chOff x="556" y="1711"/>
                <a:chExt cx="2008" cy="1253"/>
              </a:xfrm>
            </p:grpSpPr>
            <p:graphicFrame>
              <p:nvGraphicFramePr>
                <p:cNvPr id="13448" name="Object 136">
                  <a:extLst>
                    <a:ext uri="{FF2B5EF4-FFF2-40B4-BE49-F238E27FC236}">
                      <a16:creationId xmlns:a16="http://schemas.microsoft.com/office/drawing/2014/main" id="{D270BDA7-61E2-63CF-AEF8-C1CE65A9B23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56" y="1711"/>
                <a:ext cx="2008" cy="9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hart" r:id="rId8" imgW="5448300" imgH="3530600" progId="Excel.Chart.8">
                        <p:embed/>
                      </p:oleObj>
                    </mc:Choice>
                    <mc:Fallback>
                      <p:oleObj name="Chart" r:id="rId8" imgW="5448300" imgH="3530600" progId="Excel.Chart.8">
                        <p:embed/>
                        <p:pic>
                          <p:nvPicPr>
                            <p:cNvPr id="13448" name="Object 136">
                              <a:extLst>
                                <a:ext uri="{FF2B5EF4-FFF2-40B4-BE49-F238E27FC236}">
                                  <a16:creationId xmlns:a16="http://schemas.microsoft.com/office/drawing/2014/main" id="{5C8390DF-8C80-6079-1C2D-4D63E15BA82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6" y="1711"/>
                              <a:ext cx="2008" cy="9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449" name="Line 137">
                  <a:extLst>
                    <a:ext uri="{FF2B5EF4-FFF2-40B4-BE49-F238E27FC236}">
                      <a16:creationId xmlns:a16="http://schemas.microsoft.com/office/drawing/2014/main" id="{F2AECF83-7382-296F-DB33-7B9BD05D6B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73" y="1786"/>
                  <a:ext cx="0" cy="8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50" name="Line 138">
                  <a:extLst>
                    <a:ext uri="{FF2B5EF4-FFF2-40B4-BE49-F238E27FC236}">
                      <a16:creationId xmlns:a16="http://schemas.microsoft.com/office/drawing/2014/main" id="{B883D005-32FE-5C88-CA2C-8659788293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29" y="1779"/>
                  <a:ext cx="0" cy="8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51" name="Line 139">
                  <a:extLst>
                    <a:ext uri="{FF2B5EF4-FFF2-40B4-BE49-F238E27FC236}">
                      <a16:creationId xmlns:a16="http://schemas.microsoft.com/office/drawing/2014/main" id="{36331EB6-EE10-780E-00D4-7069116B90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1" y="2483"/>
                  <a:ext cx="5" cy="1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52" name="Line 140">
                  <a:extLst>
                    <a:ext uri="{FF2B5EF4-FFF2-40B4-BE49-F238E27FC236}">
                      <a16:creationId xmlns:a16="http://schemas.microsoft.com/office/drawing/2014/main" id="{79E0B8CD-4018-DFDD-49D0-85819D6BD3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5" y="2480"/>
                  <a:ext cx="1" cy="1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53" name="Line 141">
                  <a:extLst>
                    <a:ext uri="{FF2B5EF4-FFF2-40B4-BE49-F238E27FC236}">
                      <a16:creationId xmlns:a16="http://schemas.microsoft.com/office/drawing/2014/main" id="{D4E28357-6F07-D227-7BB6-511E2B3EC9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80" y="2486"/>
                  <a:ext cx="1" cy="1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54" name="Line 142">
                  <a:extLst>
                    <a:ext uri="{FF2B5EF4-FFF2-40B4-BE49-F238E27FC236}">
                      <a16:creationId xmlns:a16="http://schemas.microsoft.com/office/drawing/2014/main" id="{B4A1E1AF-F826-5A35-5CE5-AA9D29C3FB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7" y="2477"/>
                  <a:ext cx="2" cy="1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55" name="Text Box 143">
                  <a:extLst>
                    <a:ext uri="{FF2B5EF4-FFF2-40B4-BE49-F238E27FC236}">
                      <a16:creationId xmlns:a16="http://schemas.microsoft.com/office/drawing/2014/main" id="{6A289E98-BEC9-4A06-BB62-A3A4F5A482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10" y="2618"/>
                  <a:ext cx="635" cy="1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rPr>
                    <a:t>Mean = 0.001</a:t>
                  </a:r>
                </a:p>
              </p:txBody>
            </p:sp>
            <p:sp>
              <p:nvSpPr>
                <p:cNvPr id="13456" name="Text Box 144">
                  <a:extLst>
                    <a:ext uri="{FF2B5EF4-FFF2-40B4-BE49-F238E27FC236}">
                      <a16:creationId xmlns:a16="http://schemas.microsoft.com/office/drawing/2014/main" id="{BB18335B-0E8B-D7E9-92DA-1383A4D8AE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7" y="2776"/>
                  <a:ext cx="452" cy="1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l-GR" altLang="en-US" sz="10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σ</a:t>
                  </a:r>
                  <a:r>
                    <a:rPr kumimoji="0" lang="en-US" altLang="en-US" sz="10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= 0.003</a:t>
                  </a:r>
                  <a:endParaRPr kumimoji="0" lang="el-GR" altLang="en-US" sz="10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457" name="Group 145">
                <a:extLst>
                  <a:ext uri="{FF2B5EF4-FFF2-40B4-BE49-F238E27FC236}">
                    <a16:creationId xmlns:a16="http://schemas.microsoft.com/office/drawing/2014/main" id="{0F66DCB4-87B4-011F-C825-47C5A4F75C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45" y="1872"/>
                <a:ext cx="1890" cy="1000"/>
                <a:chOff x="3155" y="654"/>
                <a:chExt cx="1848" cy="1197"/>
              </a:xfrm>
            </p:grpSpPr>
            <p:sp>
              <p:nvSpPr>
                <p:cNvPr id="13458" name="Text Box 146">
                  <a:extLst>
                    <a:ext uri="{FF2B5EF4-FFF2-40B4-BE49-F238E27FC236}">
                      <a16:creationId xmlns:a16="http://schemas.microsoft.com/office/drawing/2014/main" id="{6CD9F8FF-1D36-CBE2-181A-4832AE133A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36" y="1663"/>
                  <a:ext cx="423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l-GR" altLang="en-US" sz="10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σ</a:t>
                  </a:r>
                  <a:r>
                    <a:rPr kumimoji="0" lang="en-US" altLang="en-US" sz="10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= 0.005</a:t>
                  </a:r>
                  <a:endParaRPr kumimoji="0" lang="el-GR" altLang="en-US" sz="10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graphicFrame>
              <p:nvGraphicFramePr>
                <p:cNvPr id="13459" name="Object 147">
                  <a:extLst>
                    <a:ext uri="{FF2B5EF4-FFF2-40B4-BE49-F238E27FC236}">
                      <a16:creationId xmlns:a16="http://schemas.microsoft.com/office/drawing/2014/main" id="{BC18EBEF-359A-566F-6CB5-315BF9AB968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155" y="654"/>
                <a:ext cx="1848" cy="8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hart" r:id="rId10" imgW="5448300" imgH="3530600" progId="Excel.Chart.8">
                        <p:embed/>
                      </p:oleObj>
                    </mc:Choice>
                    <mc:Fallback>
                      <p:oleObj name="Chart" r:id="rId10" imgW="5448300" imgH="3530600" progId="Excel.Chart.8">
                        <p:embed/>
                        <p:pic>
                          <p:nvPicPr>
                            <p:cNvPr id="13459" name="Object 147">
                              <a:extLst>
                                <a:ext uri="{FF2B5EF4-FFF2-40B4-BE49-F238E27FC236}">
                                  <a16:creationId xmlns:a16="http://schemas.microsoft.com/office/drawing/2014/main" id="{9C20BB76-6C07-A594-A22F-384DE302A03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55" y="654"/>
                              <a:ext cx="1848" cy="8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460" name="Line 148">
                  <a:extLst>
                    <a:ext uri="{FF2B5EF4-FFF2-40B4-BE49-F238E27FC236}">
                      <a16:creationId xmlns:a16="http://schemas.microsoft.com/office/drawing/2014/main" id="{A62A6BD4-33E5-710C-5FED-1047018909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69" y="734"/>
                  <a:ext cx="7" cy="75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61" name="Line 149">
                  <a:extLst>
                    <a:ext uri="{FF2B5EF4-FFF2-40B4-BE49-F238E27FC236}">
                      <a16:creationId xmlns:a16="http://schemas.microsoft.com/office/drawing/2014/main" id="{0EA9492F-592C-AB45-0819-5CC185D489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01" y="741"/>
                  <a:ext cx="0" cy="7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62" name="Line 150">
                  <a:extLst>
                    <a:ext uri="{FF2B5EF4-FFF2-40B4-BE49-F238E27FC236}">
                      <a16:creationId xmlns:a16="http://schemas.microsoft.com/office/drawing/2014/main" id="{9C543C13-4465-A2D9-4F29-5B7832A1DD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2" y="1397"/>
                  <a:ext cx="2" cy="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63" name="Line 151">
                  <a:extLst>
                    <a:ext uri="{FF2B5EF4-FFF2-40B4-BE49-F238E27FC236}">
                      <a16:creationId xmlns:a16="http://schemas.microsoft.com/office/drawing/2014/main" id="{E37C5E10-94F6-CC88-F871-FAAD82ED2C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34" y="1397"/>
                  <a:ext cx="1" cy="9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64" name="Line 152">
                  <a:extLst>
                    <a:ext uri="{FF2B5EF4-FFF2-40B4-BE49-F238E27FC236}">
                      <a16:creationId xmlns:a16="http://schemas.microsoft.com/office/drawing/2014/main" id="{759BC179-1636-1DC0-6D6D-3DDB95BB95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3" y="1397"/>
                  <a:ext cx="1" cy="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65" name="Line 153">
                  <a:extLst>
                    <a:ext uri="{FF2B5EF4-FFF2-40B4-BE49-F238E27FC236}">
                      <a16:creationId xmlns:a16="http://schemas.microsoft.com/office/drawing/2014/main" id="{16383616-98CD-FEF5-F58F-A25BB9A380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58" y="1395"/>
                  <a:ext cx="2" cy="9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66" name="Text Box 154">
                  <a:extLst>
                    <a:ext uri="{FF2B5EF4-FFF2-40B4-BE49-F238E27FC236}">
                      <a16:creationId xmlns:a16="http://schemas.microsoft.com/office/drawing/2014/main" id="{DE2286AB-87F4-74D3-C8A4-4C983CB1CF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17" y="1513"/>
                  <a:ext cx="598" cy="1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rPr>
                    <a:t>Mean = 0.001</a:t>
                  </a:r>
                </a:p>
              </p:txBody>
            </p:sp>
            <p:sp>
              <p:nvSpPr>
                <p:cNvPr id="13467" name="Text Box 155">
                  <a:extLst>
                    <a:ext uri="{FF2B5EF4-FFF2-40B4-BE49-F238E27FC236}">
                      <a16:creationId xmlns:a16="http://schemas.microsoft.com/office/drawing/2014/main" id="{EFC1DF3D-0E3F-BDF7-6E14-FA59531B86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66" y="1667"/>
                  <a:ext cx="423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l-GR" altLang="en-US" sz="10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σ</a:t>
                  </a:r>
                  <a:r>
                    <a:rPr kumimoji="0" lang="en-US" altLang="en-US" sz="10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= 0.006</a:t>
                  </a:r>
                  <a:endParaRPr kumimoji="0" lang="el-GR" altLang="en-US" sz="10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68" name="Text Box 156">
                  <a:extLst>
                    <a:ext uri="{FF2B5EF4-FFF2-40B4-BE49-F238E27FC236}">
                      <a16:creationId xmlns:a16="http://schemas.microsoft.com/office/drawing/2014/main" id="{3CD95AD6-A03F-191E-E151-D68AA59F9F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51" y="1530"/>
                  <a:ext cx="490" cy="1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rPr>
                    <a:t>Mean = 0.01</a:t>
                  </a:r>
                </a:p>
              </p:txBody>
            </p:sp>
            <p:sp>
              <p:nvSpPr>
                <p:cNvPr id="13469" name="Line 157">
                  <a:extLst>
                    <a:ext uri="{FF2B5EF4-FFF2-40B4-BE49-F238E27FC236}">
                      <a16:creationId xmlns:a16="http://schemas.microsoft.com/office/drawing/2014/main" id="{5CE32094-01C2-E7C2-2C35-C6B076754D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31" y="1279"/>
                  <a:ext cx="118" cy="1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70" name="Line 158">
                  <a:extLst>
                    <a:ext uri="{FF2B5EF4-FFF2-40B4-BE49-F238E27FC236}">
                      <a16:creationId xmlns:a16="http://schemas.microsoft.com/office/drawing/2014/main" id="{54392101-8302-19E6-09AD-F048B0646C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31" y="1301"/>
                  <a:ext cx="134" cy="1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71" name="Line 159">
                  <a:extLst>
                    <a:ext uri="{FF2B5EF4-FFF2-40B4-BE49-F238E27FC236}">
                      <a16:creationId xmlns:a16="http://schemas.microsoft.com/office/drawing/2014/main" id="{A1C5AE5B-478A-611C-B8C9-8EDA6333D8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34" y="1324"/>
                  <a:ext cx="144" cy="15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72" name="Line 160">
                  <a:extLst>
                    <a:ext uri="{FF2B5EF4-FFF2-40B4-BE49-F238E27FC236}">
                      <a16:creationId xmlns:a16="http://schemas.microsoft.com/office/drawing/2014/main" id="{D736C900-49B1-30B4-254B-EEC3241CEB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44" y="1346"/>
                  <a:ext cx="144" cy="15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73" name="Line 161">
                  <a:extLst>
                    <a:ext uri="{FF2B5EF4-FFF2-40B4-BE49-F238E27FC236}">
                      <a16:creationId xmlns:a16="http://schemas.microsoft.com/office/drawing/2014/main" id="{21563514-DBB2-EF45-73DD-3CA5DE80D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91" y="1371"/>
                  <a:ext cx="115" cy="12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74" name="Line 162">
                  <a:extLst>
                    <a:ext uri="{FF2B5EF4-FFF2-40B4-BE49-F238E27FC236}">
                      <a16:creationId xmlns:a16="http://schemas.microsoft.com/office/drawing/2014/main" id="{D0BCB526-5108-B7C5-B3BC-C47525C80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31" y="1391"/>
                  <a:ext cx="91" cy="1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75" name="Line 163">
                  <a:extLst>
                    <a:ext uri="{FF2B5EF4-FFF2-40B4-BE49-F238E27FC236}">
                      <a16:creationId xmlns:a16="http://schemas.microsoft.com/office/drawing/2014/main" id="{23BD5AD0-70C8-CB87-EFF9-4C8D3DCB47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65" y="1419"/>
                  <a:ext cx="65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76" name="Line 164">
                  <a:extLst>
                    <a:ext uri="{FF2B5EF4-FFF2-40B4-BE49-F238E27FC236}">
                      <a16:creationId xmlns:a16="http://schemas.microsoft.com/office/drawing/2014/main" id="{DBBE9047-98FB-5BA3-242D-887708EA57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101" y="1452"/>
                  <a:ext cx="37" cy="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477" name="Group 165">
                <a:extLst>
                  <a:ext uri="{FF2B5EF4-FFF2-40B4-BE49-F238E27FC236}">
                    <a16:creationId xmlns:a16="http://schemas.microsoft.com/office/drawing/2014/main" id="{85374E42-AC02-C122-679F-B9A356A5CC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52" y="3027"/>
                <a:ext cx="1902" cy="1037"/>
                <a:chOff x="3252" y="2721"/>
                <a:chExt cx="1902" cy="1351"/>
              </a:xfrm>
            </p:grpSpPr>
            <p:graphicFrame>
              <p:nvGraphicFramePr>
                <p:cNvPr id="13478" name="Object 166">
                  <a:extLst>
                    <a:ext uri="{FF2B5EF4-FFF2-40B4-BE49-F238E27FC236}">
                      <a16:creationId xmlns:a16="http://schemas.microsoft.com/office/drawing/2014/main" id="{43F9897F-3FAA-30F1-5AAA-7C875211BD2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52" y="2721"/>
                <a:ext cx="1902" cy="107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hart" r:id="rId12" imgW="4914900" imgH="2654300" progId="Excel.Chart.8">
                        <p:embed/>
                      </p:oleObj>
                    </mc:Choice>
                    <mc:Fallback>
                      <p:oleObj name="Chart" r:id="rId12" imgW="4914900" imgH="2654300" progId="Excel.Chart.8">
                        <p:embed/>
                        <p:pic>
                          <p:nvPicPr>
                            <p:cNvPr id="13478" name="Object 166">
                              <a:extLst>
                                <a:ext uri="{FF2B5EF4-FFF2-40B4-BE49-F238E27FC236}">
                                  <a16:creationId xmlns:a16="http://schemas.microsoft.com/office/drawing/2014/main" id="{D1FE094E-6BEB-DBB2-5FB8-60E75A87F52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52" y="2721"/>
                              <a:ext cx="1902" cy="107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479" name="Line 167">
                  <a:extLst>
                    <a:ext uri="{FF2B5EF4-FFF2-40B4-BE49-F238E27FC236}">
                      <a16:creationId xmlns:a16="http://schemas.microsoft.com/office/drawing/2014/main" id="{42FF4143-1867-27AC-F66F-412F53FC92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21" y="3153"/>
                  <a:ext cx="0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80" name="Line 168">
                  <a:extLst>
                    <a:ext uri="{FF2B5EF4-FFF2-40B4-BE49-F238E27FC236}">
                      <a16:creationId xmlns:a16="http://schemas.microsoft.com/office/drawing/2014/main" id="{ED5EA04C-028E-6728-4612-4EAB64D92D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3" y="3165"/>
                  <a:ext cx="0" cy="60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81" name="Line 169">
                  <a:extLst>
                    <a:ext uri="{FF2B5EF4-FFF2-40B4-BE49-F238E27FC236}">
                      <a16:creationId xmlns:a16="http://schemas.microsoft.com/office/drawing/2014/main" id="{FD99212A-5142-A557-0B04-92412675E2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4" y="3681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82" name="Line 170">
                  <a:extLst>
                    <a:ext uri="{FF2B5EF4-FFF2-40B4-BE49-F238E27FC236}">
                      <a16:creationId xmlns:a16="http://schemas.microsoft.com/office/drawing/2014/main" id="{736D38DB-D80B-9EB7-5549-21B8E26D67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1" y="36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83" name="Line 171">
                  <a:extLst>
                    <a:ext uri="{FF2B5EF4-FFF2-40B4-BE49-F238E27FC236}">
                      <a16:creationId xmlns:a16="http://schemas.microsoft.com/office/drawing/2014/main" id="{91A64764-EDE9-30BC-EC5C-0C142985B5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36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84" name="Line 172">
                  <a:extLst>
                    <a:ext uri="{FF2B5EF4-FFF2-40B4-BE49-F238E27FC236}">
                      <a16:creationId xmlns:a16="http://schemas.microsoft.com/office/drawing/2014/main" id="{43B85B0B-8DCB-6ADC-AF85-6D5BF5580E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4" y="3678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85" name="Text Box 173">
                  <a:extLst>
                    <a:ext uri="{FF2B5EF4-FFF2-40B4-BE49-F238E27FC236}">
                      <a16:creationId xmlns:a16="http://schemas.microsoft.com/office/drawing/2014/main" id="{75A3238A-9B86-5561-BF97-780D0C2613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68" y="3795"/>
                  <a:ext cx="516" cy="1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rPr>
                    <a:t>Mean = 0.001</a:t>
                  </a:r>
                </a:p>
              </p:txBody>
            </p:sp>
            <p:sp>
              <p:nvSpPr>
                <p:cNvPr id="13486" name="Text Box 174">
                  <a:extLst>
                    <a:ext uri="{FF2B5EF4-FFF2-40B4-BE49-F238E27FC236}">
                      <a16:creationId xmlns:a16="http://schemas.microsoft.com/office/drawing/2014/main" id="{4B221D18-4D9A-F289-5BB4-E35242AA36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07" y="3804"/>
                  <a:ext cx="476" cy="1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rPr>
                    <a:t>Mean = 0.06</a:t>
                  </a:r>
                </a:p>
              </p:txBody>
            </p:sp>
            <p:sp>
              <p:nvSpPr>
                <p:cNvPr id="13487" name="Text Box 175">
                  <a:extLst>
                    <a:ext uri="{FF2B5EF4-FFF2-40B4-BE49-F238E27FC236}">
                      <a16:creationId xmlns:a16="http://schemas.microsoft.com/office/drawing/2014/main" id="{2AEA54D9-7227-F375-2994-B0EDEA2DFA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04" y="3896"/>
                  <a:ext cx="409" cy="1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l-GR" altLang="en-US" sz="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σ</a:t>
                  </a:r>
                  <a:r>
                    <a:rPr kumimoji="0" lang="en-US" altLang="en-US" sz="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= 0.005 </a:t>
                  </a:r>
                  <a:endParaRPr kumimoji="0" lang="el-GR" altLang="en-US" sz="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88" name="Text Box 176">
                  <a:extLst>
                    <a:ext uri="{FF2B5EF4-FFF2-40B4-BE49-F238E27FC236}">
                      <a16:creationId xmlns:a16="http://schemas.microsoft.com/office/drawing/2014/main" id="{CEE17967-07AB-4D9A-60A7-66EFDE8AD4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52" y="3889"/>
                  <a:ext cx="409" cy="1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l-GR" altLang="en-US" sz="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σ</a:t>
                  </a:r>
                  <a:r>
                    <a:rPr kumimoji="0" lang="en-US" altLang="en-US" sz="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= 0.013 </a:t>
                  </a:r>
                  <a:endParaRPr kumimoji="0" lang="el-GR" altLang="en-US" sz="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13490" name="Text Box 178">
            <a:extLst>
              <a:ext uri="{FF2B5EF4-FFF2-40B4-BE49-F238E27FC236}">
                <a16:creationId xmlns:a16="http://schemas.microsoft.com/office/drawing/2014/main" id="{67CB1D44-5154-11D8-93E4-E759CA30E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335216"/>
            <a:ext cx="1238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Significant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95B2C6-F4E9-EC52-6E23-D03F5A960899}"/>
              </a:ext>
            </a:extLst>
          </p:cNvPr>
          <p:cNvSpPr txBox="1"/>
          <p:nvPr/>
        </p:nvSpPr>
        <p:spPr>
          <a:xfrm>
            <a:off x="1834813" y="83300"/>
            <a:ext cx="39485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Perform a Student t-Test </a:t>
            </a:r>
          </a:p>
          <a:p>
            <a:pPr algn="ctr"/>
            <a:r>
              <a:rPr lang="en-US" sz="2800" dirty="0"/>
              <a:t>to Determine Significance</a:t>
            </a:r>
          </a:p>
        </p:txBody>
      </p:sp>
    </p:spTree>
    <p:extLst>
      <p:ext uri="{BB962C8B-B14F-4D97-AF65-F5344CB8AC3E}">
        <p14:creationId xmlns:p14="http://schemas.microsoft.com/office/powerpoint/2010/main" val="3195318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21ED-8BD6-D66E-4003-D18261241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1A179B5-4B89-1CB9-215F-8E36FC34D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107576"/>
            <a:ext cx="4831976" cy="887506"/>
          </a:xfrm>
        </p:spPr>
        <p:txBody>
          <a:bodyPr/>
          <a:lstStyle/>
          <a:p>
            <a:r>
              <a:rPr lang="en-US" altLang="en-US" sz="4000" dirty="0">
                <a:solidFill>
                  <a:schemeClr val="tx1"/>
                </a:solidFill>
              </a:rPr>
              <a:t>Cocaine Effects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8578B481-5DB3-CD71-ACC0-736DE43F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7" y="955894"/>
            <a:ext cx="4291969" cy="5902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>
            <a:extLst>
              <a:ext uri="{FF2B5EF4-FFF2-40B4-BE49-F238E27FC236}">
                <a16:creationId xmlns:a16="http://schemas.microsoft.com/office/drawing/2014/main" id="{7E6CE846-52BA-4479-66C3-49B7A234A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461" y="955894"/>
            <a:ext cx="4210688" cy="5902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0026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C713-7093-F867-9FE2-B54CE8BE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>
            <a:extLst>
              <a:ext uri="{FF2B5EF4-FFF2-40B4-BE49-F238E27FC236}">
                <a16:creationId xmlns:a16="http://schemas.microsoft.com/office/drawing/2014/main" id="{7B16DA2B-8B74-810A-55C8-14385018D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582" y="349811"/>
            <a:ext cx="4614862" cy="634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25AF2E-EBA2-3E53-6124-D07AA64D97F0}"/>
              </a:ext>
            </a:extLst>
          </p:cNvPr>
          <p:cNvSpPr txBox="1"/>
          <p:nvPr/>
        </p:nvSpPr>
        <p:spPr>
          <a:xfrm>
            <a:off x="5914838" y="1393173"/>
            <a:ext cx="322916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C.F. Ferris, P Kulkarni, J.M. Sullivan Jr, J.A. Harder, T.L. Messenger, and M. Febo,</a:t>
            </a:r>
          </a:p>
          <a:p>
            <a:r>
              <a:rPr lang="en-US" sz="2200" dirty="0"/>
              <a:t> </a:t>
            </a:r>
          </a:p>
          <a:p>
            <a:r>
              <a:rPr lang="en-US" sz="2200" dirty="0"/>
              <a:t>“Pup Suckling Is More Rewarding Than Cocaine: Evidence from Functional Magnetic Resonance Imaging and Three-Dimensional Computational Analysis”, </a:t>
            </a:r>
          </a:p>
          <a:p>
            <a:endParaRPr lang="en-US" sz="2200" dirty="0"/>
          </a:p>
          <a:p>
            <a:r>
              <a:rPr lang="en-US" sz="2200" dirty="0"/>
              <a:t>J </a:t>
            </a:r>
            <a:r>
              <a:rPr lang="en-US" sz="2200" dirty="0" err="1"/>
              <a:t>NeuroScience</a:t>
            </a:r>
            <a:r>
              <a:rPr lang="en-US" sz="2200" dirty="0"/>
              <a:t>, V25, N1, (2005) </a:t>
            </a:r>
          </a:p>
        </p:txBody>
      </p:sp>
    </p:spTree>
    <p:extLst>
      <p:ext uri="{BB962C8B-B14F-4D97-AF65-F5344CB8AC3E}">
        <p14:creationId xmlns:p14="http://schemas.microsoft.com/office/powerpoint/2010/main" val="924780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57320E-8500-40DC-A8D3-06C1C574A622}"/>
              </a:ext>
            </a:extLst>
          </p:cNvPr>
          <p:cNvSpPr txBox="1"/>
          <p:nvPr/>
        </p:nvSpPr>
        <p:spPr>
          <a:xfrm>
            <a:off x="2107822" y="215154"/>
            <a:ext cx="28518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Your Tasks: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02542-6E15-234E-7659-9EBB73390B91}"/>
              </a:ext>
            </a:extLst>
          </p:cNvPr>
          <p:cNvSpPr txBox="1"/>
          <p:nvPr/>
        </p:nvSpPr>
        <p:spPr>
          <a:xfrm>
            <a:off x="156882" y="1287244"/>
            <a:ext cx="883023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Find the Folder Containing All the Codes and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Open the File “</a:t>
            </a:r>
            <a:r>
              <a:rPr lang="en-US" sz="3200" dirty="0" err="1"/>
              <a:t>SingleSliceRatBrain_t_Test.py</a:t>
            </a:r>
            <a:r>
              <a:rPr lang="en-US" sz="3200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Replace the Variable “</a:t>
            </a:r>
            <a:r>
              <a:rPr lang="en-US" sz="3200" dirty="0" err="1"/>
              <a:t>dataDir</a:t>
            </a:r>
            <a:r>
              <a:rPr lang="en-US" sz="3200" dirty="0"/>
              <a:t>” with your directory path: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# set the paths to the data and read in the file listing all the jobs to run</a:t>
            </a:r>
            <a:br>
              <a:rPr lang="en-US" i="1" dirty="0"/>
            </a:br>
            <a:r>
              <a:rPr lang="en-US" dirty="0" err="1"/>
              <a:t>dataDir</a:t>
            </a:r>
            <a:r>
              <a:rPr lang="en-US" dirty="0"/>
              <a:t> = "/Users/</a:t>
            </a:r>
            <a:r>
              <a:rPr lang="en-US" dirty="0" err="1"/>
              <a:t>sullivan</a:t>
            </a:r>
            <a:r>
              <a:rPr lang="en-US" dirty="0"/>
              <a:t>/Dropbox/UMass/JMS-RPi-Tests/"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Run the Code on your </a:t>
            </a:r>
            <a:r>
              <a:rPr lang="en-US" sz="3200" dirty="0" err="1"/>
              <a:t>Headnode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	Did it work???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Open the File “</a:t>
            </a:r>
            <a:r>
              <a:rPr lang="en-US" sz="3200" dirty="0" err="1"/>
              <a:t>MultipleSliceRatBrain_t_Test.py</a:t>
            </a:r>
            <a:r>
              <a:rPr lang="en-US" sz="3200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Replace the Variable “</a:t>
            </a:r>
            <a:r>
              <a:rPr lang="en-US" sz="3200" dirty="0" err="1"/>
              <a:t>dataDir</a:t>
            </a:r>
            <a:r>
              <a:rPr lang="en-US" sz="3200" dirty="0"/>
              <a:t>” with your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Run the Code on your </a:t>
            </a:r>
            <a:r>
              <a:rPr lang="en-US" sz="3200" dirty="0" err="1"/>
              <a:t>Headnode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	Did it work???</a:t>
            </a:r>
          </a:p>
        </p:txBody>
      </p:sp>
    </p:spTree>
    <p:extLst>
      <p:ext uri="{BB962C8B-B14F-4D97-AF65-F5344CB8AC3E}">
        <p14:creationId xmlns:p14="http://schemas.microsoft.com/office/powerpoint/2010/main" val="304762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ogos">
  <a:themeElements>
    <a:clrScheme name="Logos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Logos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Logos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ogos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ogos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ogos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ogos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2878</TotalTime>
  <Words>402</Words>
  <Application>Microsoft Macintosh PowerPoint</Application>
  <PresentationFormat>On-screen Show (4:3)</PresentationFormat>
  <Paragraphs>72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Tahoma</vt:lpstr>
      <vt:lpstr>Times New Roman</vt:lpstr>
      <vt:lpstr>Wingdings</vt:lpstr>
      <vt:lpstr>Logos</vt:lpstr>
      <vt:lpstr>Chart</vt:lpstr>
      <vt:lpstr>Functional MRI Imaging in Conscious Animals</vt:lpstr>
      <vt:lpstr>PowerPoint Presentation</vt:lpstr>
      <vt:lpstr>PRESENT BIOMEDICAL APPLICATIONS</vt:lpstr>
      <vt:lpstr>SUPPORT</vt:lpstr>
      <vt:lpstr>PowerPoint Presentation</vt:lpstr>
      <vt:lpstr>MAGNETIC RESONANCE SPECTROMETER (4.7 T)</vt:lpstr>
      <vt:lpstr>MAGNETIC RESONANCE IMAGING   “THEN &amp; NOW”</vt:lpstr>
      <vt:lpstr>Cocaine Story</vt:lpstr>
      <vt:lpstr>PowerPoint Presentation</vt:lpstr>
      <vt:lpstr>Selection  ROIs: Tree Browser</vt:lpstr>
      <vt:lpstr>Functional Area</vt:lpstr>
      <vt:lpstr>IMAGING BRAIN ACTIVITY IN RESPONSE TO COCAINE </vt:lpstr>
      <vt:lpstr>PowerPoint Presentation</vt:lpstr>
      <vt:lpstr>PowerPoint Presentation</vt:lpstr>
      <vt:lpstr>Cocaine Effects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Sullivan, John</dc:creator>
  <cp:lastModifiedBy>Sullivan, John</cp:lastModifiedBy>
  <cp:revision>7</cp:revision>
  <dcterms:created xsi:type="dcterms:W3CDTF">2026-01-05T21:45:32Z</dcterms:created>
  <dcterms:modified xsi:type="dcterms:W3CDTF">2026-01-15T14:43:36Z</dcterms:modified>
</cp:coreProperties>
</file>